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Roboto Mono Medium"/>
      <p:regular r:id="rId17"/>
    </p:embeddedFont>
    <p:embeddedFont>
      <p:font typeface="Roboto Mono Medium"/>
      <p:regular r:id="rId18"/>
    </p:embeddedFont>
    <p:embeddedFont>
      <p:font typeface="Roboto Mono Medium"/>
      <p:regular r:id="rId19"/>
    </p:embeddedFont>
    <p:embeddedFont>
      <p:font typeface="Roboto Mono Medium"/>
      <p:regular r:id="rId20"/>
    </p:embeddedFont>
    <p:embeddedFont>
      <p:font typeface="Roboto"/>
      <p:regular r:id="rId21"/>
    </p:embeddedFont>
    <p:embeddedFont>
      <p:font typeface="Roboto"/>
      <p:regular r:id="rId22"/>
    </p:embeddedFont>
    <p:embeddedFont>
      <p:font typeface="Roboto"/>
      <p:regular r:id="rId23"/>
    </p:embeddedFont>
    <p:embeddedFont>
      <p:font typeface="Roboto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336065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SyndiSync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6280190" y="4160163"/>
            <a:ext cx="755642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The AI-Native Operating System for Syndicated Lending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865" y="496491"/>
            <a:ext cx="13366671" cy="1128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Syndicated Lending Remains Trapped in Manual Processes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631865" y="2057876"/>
            <a:ext cx="7153394" cy="577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syndicated loan market moves billions daily, yet deals still rely on outdated workflows that create friction, delay closures, and obscure critical information.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31865" y="2838926"/>
            <a:ext cx="7153394" cy="1447324"/>
          </a:xfrm>
          <a:prstGeom prst="roundRect">
            <a:avLst>
              <a:gd name="adj" fmla="val 7581"/>
            </a:avLst>
          </a:prstGeom>
          <a:solidFill>
            <a:srgbClr val="212121"/>
          </a:solidFill>
          <a:ln w="22860">
            <a:solidFill>
              <a:srgbClr val="59595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005" y="2838926"/>
            <a:ext cx="91440" cy="1447324"/>
          </a:xfrm>
          <a:prstGeom prst="roundRect">
            <a:avLst>
              <a:gd name="adj" fmla="val 29620"/>
            </a:avLst>
          </a:prstGeom>
          <a:solidFill>
            <a:srgbClr val="DCFF50"/>
          </a:solidFill>
          <a:ln/>
        </p:spPr>
      </p:sp>
      <p:sp>
        <p:nvSpPr>
          <p:cNvPr id="6" name="Text 4"/>
          <p:cNvSpPr/>
          <p:nvPr/>
        </p:nvSpPr>
        <p:spPr>
          <a:xfrm>
            <a:off x="903803" y="3042285"/>
            <a:ext cx="2707958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Documentation Delays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03803" y="3504962"/>
            <a:ext cx="6678097" cy="577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Loan documentation consumes weeks of legal review, slowing deal momentum and increasing counterparty risk.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1865" y="4466749"/>
            <a:ext cx="7153394" cy="1447324"/>
          </a:xfrm>
          <a:prstGeom prst="roundRect">
            <a:avLst>
              <a:gd name="adj" fmla="val 7581"/>
            </a:avLst>
          </a:prstGeom>
          <a:solidFill>
            <a:srgbClr val="212121"/>
          </a:solidFill>
          <a:ln w="22860">
            <a:solidFill>
              <a:srgbClr val="59595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9005" y="4466749"/>
            <a:ext cx="91440" cy="1447324"/>
          </a:xfrm>
          <a:prstGeom prst="roundRect">
            <a:avLst>
              <a:gd name="adj" fmla="val 29620"/>
            </a:avLst>
          </a:prstGeom>
          <a:solidFill>
            <a:srgbClr val="DCFF50"/>
          </a:solidFill>
          <a:ln/>
        </p:spPr>
      </p:sp>
      <p:sp>
        <p:nvSpPr>
          <p:cNvPr id="10" name="Text 8"/>
          <p:cNvSpPr/>
          <p:nvPr/>
        </p:nvSpPr>
        <p:spPr>
          <a:xfrm>
            <a:off x="903803" y="4670108"/>
            <a:ext cx="3114199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Fragmented Negotiations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03803" y="5132784"/>
            <a:ext cx="6678097" cy="577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Multi-party negotiations unfold across endless email threads, version control chaos, and scattered communication channels.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1865" y="6094571"/>
            <a:ext cx="7153394" cy="1447324"/>
          </a:xfrm>
          <a:prstGeom prst="roundRect">
            <a:avLst>
              <a:gd name="adj" fmla="val 7581"/>
            </a:avLst>
          </a:prstGeom>
          <a:solidFill>
            <a:srgbClr val="212121"/>
          </a:solidFill>
          <a:ln w="22860">
            <a:solidFill>
              <a:srgbClr val="59595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9005" y="6094571"/>
            <a:ext cx="91440" cy="1447324"/>
          </a:xfrm>
          <a:prstGeom prst="roundRect">
            <a:avLst>
              <a:gd name="adj" fmla="val 29620"/>
            </a:avLst>
          </a:prstGeom>
          <a:solidFill>
            <a:srgbClr val="DCFF50"/>
          </a:solidFill>
          <a:ln/>
        </p:spPr>
      </p:sp>
      <p:sp>
        <p:nvSpPr>
          <p:cNvPr id="14" name="Text 12"/>
          <p:cNvSpPr/>
          <p:nvPr/>
        </p:nvSpPr>
        <p:spPr>
          <a:xfrm>
            <a:off x="903803" y="6297930"/>
            <a:ext cx="2301835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Zero Transparency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903803" y="6760607"/>
            <a:ext cx="6678097" cy="577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Deal stakeholders lack real-time visibility into negotiation status, term changes, and transaction progress.</a:t>
            </a:r>
            <a:endParaRPr lang="en-US" sz="14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33410" y="2098596"/>
            <a:ext cx="3250168" cy="180558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8298" y="548164"/>
            <a:ext cx="7807404" cy="1193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One Unified Platform for the Entire Deal Lifecycle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668298" y="2027753"/>
            <a:ext cx="7807404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SyndiSync consolidates documentation, negotiation, and intelligence into a single AI-native environment purpose-built for syndicated lending.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68298" y="2853571"/>
            <a:ext cx="3808214" cy="2773204"/>
          </a:xfrm>
          <a:prstGeom prst="roundRect">
            <a:avLst>
              <a:gd name="adj" fmla="val 1033"/>
            </a:avLst>
          </a:prstGeom>
          <a:solidFill>
            <a:srgbClr val="404040"/>
          </a:solidFill>
          <a:ln/>
        </p:spPr>
      </p:sp>
      <p:sp>
        <p:nvSpPr>
          <p:cNvPr id="7" name="Shape 4"/>
          <p:cNvSpPr/>
          <p:nvPr/>
        </p:nvSpPr>
        <p:spPr>
          <a:xfrm>
            <a:off x="859155" y="3044428"/>
            <a:ext cx="572810" cy="572810"/>
          </a:xfrm>
          <a:prstGeom prst="roundRect">
            <a:avLst>
              <a:gd name="adj" fmla="val 15961812"/>
            </a:avLst>
          </a:prstGeom>
          <a:solidFill>
            <a:srgbClr val="DCFF5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675" y="3201829"/>
            <a:ext cx="257770" cy="25777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59155" y="3808095"/>
            <a:ext cx="3426500" cy="596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AI-Powered Documentation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859155" y="4519374"/>
            <a:ext cx="3426500" cy="916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 LMA-compliant facility agreements from term sheets in under 45 seconds.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667369" y="2853571"/>
            <a:ext cx="3808333" cy="2773204"/>
          </a:xfrm>
          <a:prstGeom prst="roundRect">
            <a:avLst>
              <a:gd name="adj" fmla="val 1033"/>
            </a:avLst>
          </a:prstGeom>
          <a:solidFill>
            <a:srgbClr val="404040"/>
          </a:solidFill>
          <a:ln/>
        </p:spPr>
      </p:sp>
      <p:sp>
        <p:nvSpPr>
          <p:cNvPr id="12" name="Shape 8"/>
          <p:cNvSpPr/>
          <p:nvPr/>
        </p:nvSpPr>
        <p:spPr>
          <a:xfrm>
            <a:off x="4858226" y="3044428"/>
            <a:ext cx="572810" cy="572810"/>
          </a:xfrm>
          <a:prstGeom prst="roundRect">
            <a:avLst>
              <a:gd name="adj" fmla="val 15961812"/>
            </a:avLst>
          </a:prstGeom>
          <a:solidFill>
            <a:srgbClr val="DCFF5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15746" y="3201829"/>
            <a:ext cx="257770" cy="25777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58226" y="3808095"/>
            <a:ext cx="3426619" cy="596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Centralised Multi-Bank Negotiation</a:t>
            </a:r>
            <a:endParaRPr lang="en-US" sz="1850" dirty="0"/>
          </a:p>
        </p:txBody>
      </p:sp>
      <p:sp>
        <p:nvSpPr>
          <p:cNvPr id="15" name="Text 10"/>
          <p:cNvSpPr/>
          <p:nvPr/>
        </p:nvSpPr>
        <p:spPr>
          <a:xfrm>
            <a:off x="4858226" y="4519374"/>
            <a:ext cx="3426619" cy="916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Streamline complex multi-party discussions with version control and audit trails.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68298" y="5817632"/>
            <a:ext cx="7807404" cy="1863804"/>
          </a:xfrm>
          <a:prstGeom prst="roundRect">
            <a:avLst>
              <a:gd name="adj" fmla="val 1537"/>
            </a:avLst>
          </a:prstGeom>
          <a:solidFill>
            <a:srgbClr val="404040"/>
          </a:solidFill>
          <a:ln/>
        </p:spPr>
      </p:sp>
      <p:sp>
        <p:nvSpPr>
          <p:cNvPr id="17" name="Shape 12"/>
          <p:cNvSpPr/>
          <p:nvPr/>
        </p:nvSpPr>
        <p:spPr>
          <a:xfrm>
            <a:off x="859155" y="6008489"/>
            <a:ext cx="572810" cy="572810"/>
          </a:xfrm>
          <a:prstGeom prst="roundRect">
            <a:avLst>
              <a:gd name="adj" fmla="val 15961812"/>
            </a:avLst>
          </a:prstGeom>
          <a:solidFill>
            <a:srgbClr val="DCFF50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675" y="6165890"/>
            <a:ext cx="257770" cy="25777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59155" y="6772156"/>
            <a:ext cx="3866078" cy="298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Real-Time Deal Intelligence</a:t>
            </a:r>
            <a:endParaRPr lang="en-US" sz="1850" dirty="0"/>
          </a:p>
        </p:txBody>
      </p:sp>
      <p:sp>
        <p:nvSpPr>
          <p:cNvPr id="20" name="Text 14"/>
          <p:cNvSpPr/>
          <p:nvPr/>
        </p:nvSpPr>
        <p:spPr>
          <a:xfrm>
            <a:off x="859155" y="7185065"/>
            <a:ext cx="7425690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Surface insights, track changes, and monitor deal progress across all stakeholders.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1754" y="711398"/>
            <a:ext cx="13226891" cy="125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From Term Sheet to Facility Agreement in Minutes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01754" y="2465903"/>
            <a:ext cx="3007876" cy="375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Input</a:t>
            </a:r>
            <a:endParaRPr lang="en-US" sz="2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754" y="3067288"/>
            <a:ext cx="3609499" cy="20052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01754" y="5298043"/>
            <a:ext cx="6368891" cy="64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Upload your term sheet or key commercial terms directly into SyndiSync.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567374" y="2465903"/>
            <a:ext cx="3007876" cy="375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Output</a:t>
            </a:r>
            <a:endParaRPr lang="en-US" sz="23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7374" y="3067288"/>
            <a:ext cx="3609499" cy="200525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67374" y="5298043"/>
            <a:ext cx="6368891" cy="64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Receive a fully drafted, LMA-compliant facility agreement ready for review and negotiation.</a:t>
            </a:r>
            <a:endParaRPr lang="en-US" sz="1550" dirty="0"/>
          </a:p>
        </p:txBody>
      </p:sp>
      <p:sp>
        <p:nvSpPr>
          <p:cNvPr id="9" name="Shape 5"/>
          <p:cNvSpPr/>
          <p:nvPr/>
        </p:nvSpPr>
        <p:spPr>
          <a:xfrm>
            <a:off x="701754" y="6345436"/>
            <a:ext cx="13226891" cy="1172766"/>
          </a:xfrm>
          <a:prstGeom prst="roundRect">
            <a:avLst>
              <a:gd name="adj" fmla="val 2565"/>
            </a:avLst>
          </a:prstGeom>
          <a:solidFill>
            <a:srgbClr val="3D4D00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256" y="6649164"/>
            <a:ext cx="250627" cy="20050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53383" y="6596063"/>
            <a:ext cx="12374761" cy="64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AI-Driven Conflict Resolution: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When lenders disagree on leverage ratios (e.g., 4.5x vs 5.5x), SyndiSync's AI analyses market precedents and proposes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DCF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compromise positions like 5.0x with step-down provisions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—accelerating consensus and closing deals faster.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1133" y="945594"/>
            <a:ext cx="7694533" cy="1294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Engineered for the Modern Deal Room</a:t>
            </a:r>
            <a:endParaRPr lang="en-US" sz="4050" dirty="0"/>
          </a:p>
        </p:txBody>
      </p:sp>
      <p:sp>
        <p:nvSpPr>
          <p:cNvPr id="5" name="Shape 2"/>
          <p:cNvSpPr/>
          <p:nvPr/>
        </p:nvSpPr>
        <p:spPr>
          <a:xfrm>
            <a:off x="6211133" y="2550319"/>
            <a:ext cx="7694533" cy="1649968"/>
          </a:xfrm>
          <a:prstGeom prst="roundRect">
            <a:avLst>
              <a:gd name="adj" fmla="val 1883"/>
            </a:avLst>
          </a:prstGeom>
          <a:solidFill>
            <a:srgbClr val="212121"/>
          </a:solidFill>
          <a:ln w="22860">
            <a:solidFill>
              <a:srgbClr val="59595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41043" y="2780228"/>
            <a:ext cx="5045273" cy="403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🎤</a:t>
            </a:r>
            <a:pPr algn="l" indent="0" marL="0">
              <a:lnSpc>
                <a:spcPts val="3050"/>
              </a:lnSpc>
              <a:buNone/>
            </a:pPr>
            <a:r>
              <a:rPr lang="en-US" sz="24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Voice Command Navigation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441043" y="3307913"/>
            <a:ext cx="7234714" cy="66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Jump instantly to covenants, financial definitions, or specific clauses using natural language commands—no scrolling through hundreds of pages.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11133" y="4407337"/>
            <a:ext cx="7694533" cy="1981200"/>
          </a:xfrm>
          <a:prstGeom prst="roundRect">
            <a:avLst>
              <a:gd name="adj" fmla="val 1568"/>
            </a:avLst>
          </a:prstGeom>
          <a:solidFill>
            <a:srgbClr val="212121"/>
          </a:solidFill>
          <a:ln w="22860">
            <a:solidFill>
              <a:srgbClr val="59595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41043" y="4637246"/>
            <a:ext cx="6535936" cy="403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🌱</a:t>
            </a:r>
            <a:pPr algn="l" indent="0" marL="0">
              <a:lnSpc>
                <a:spcPts val="3050"/>
              </a:lnSpc>
              <a:buNone/>
            </a:pPr>
            <a:r>
              <a:rPr lang="en-US" sz="24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ESG &amp; Green Lending Intelligence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441043" y="5164931"/>
            <a:ext cx="7234714" cy="993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 sustainability scoring integrated directly into deal terms. Auto-detection of Sustainability Linked Loan Principles ensures compliance with evolving green finance standards.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211133" y="6621423"/>
            <a:ext cx="7694533" cy="66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SyndiSync doesn't just digitise workflows—it transforms how deal teams collaborate, negotiate, and execute with precision.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5925" y="907137"/>
            <a:ext cx="12299752" cy="656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50"/>
              </a:lnSpc>
              <a:buNone/>
            </a:pPr>
            <a:r>
              <a:rPr lang="en-US" sz="41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Delivering Measurable Commercial Impact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35925" y="2089785"/>
            <a:ext cx="4211003" cy="693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450"/>
              </a:lnSpc>
              <a:buNone/>
            </a:pPr>
            <a:r>
              <a:rPr lang="en-US" sz="54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70%</a:t>
            </a:r>
            <a:endParaRPr lang="en-US" sz="5450" dirty="0"/>
          </a:p>
        </p:txBody>
      </p:sp>
      <p:sp>
        <p:nvSpPr>
          <p:cNvPr id="4" name="Text 2"/>
          <p:cNvSpPr/>
          <p:nvPr/>
        </p:nvSpPr>
        <p:spPr>
          <a:xfrm>
            <a:off x="1527215" y="3046452"/>
            <a:ext cx="2628424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Faster Execution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735925" y="3501152"/>
            <a:ext cx="4211003" cy="1009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 time from term sheet to signed facility agreement, accelerating deal closures.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209699" y="2089785"/>
            <a:ext cx="4211003" cy="693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450"/>
              </a:lnSpc>
              <a:buNone/>
            </a:pPr>
            <a:r>
              <a:rPr lang="en-US" sz="54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60%</a:t>
            </a:r>
            <a:endParaRPr lang="en-US" sz="5450" dirty="0"/>
          </a:p>
        </p:txBody>
      </p:sp>
      <p:sp>
        <p:nvSpPr>
          <p:cNvPr id="7" name="Text 5"/>
          <p:cNvSpPr/>
          <p:nvPr/>
        </p:nvSpPr>
        <p:spPr>
          <a:xfrm>
            <a:off x="5422940" y="3046452"/>
            <a:ext cx="3784521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Fewer Negotiation Cycles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5209699" y="3501152"/>
            <a:ext cx="4211003" cy="672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AI-powered conflict detection and resolution minimises back-and-forth rounds.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683472" y="2089785"/>
            <a:ext cx="4211003" cy="693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450"/>
              </a:lnSpc>
              <a:buNone/>
            </a:pPr>
            <a:r>
              <a:rPr lang="en-US" sz="54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100%</a:t>
            </a:r>
            <a:endParaRPr lang="en-US" sz="5450" dirty="0"/>
          </a:p>
        </p:txBody>
      </p:sp>
      <p:sp>
        <p:nvSpPr>
          <p:cNvPr id="10" name="Text 8"/>
          <p:cNvSpPr/>
          <p:nvPr/>
        </p:nvSpPr>
        <p:spPr>
          <a:xfrm>
            <a:off x="10133171" y="3046452"/>
            <a:ext cx="3311485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Complete Transparency</a:t>
            </a:r>
            <a:endParaRPr lang="en-US" sz="2050" dirty="0"/>
          </a:p>
        </p:txBody>
      </p:sp>
      <p:sp>
        <p:nvSpPr>
          <p:cNvPr id="11" name="Text 9"/>
          <p:cNvSpPr/>
          <p:nvPr/>
        </p:nvSpPr>
        <p:spPr>
          <a:xfrm>
            <a:off x="9683472" y="3501152"/>
            <a:ext cx="4211003" cy="1009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visibility into every change, comment, and negotiation point across all parties.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35925" y="4935855"/>
            <a:ext cx="7689890" cy="1009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investment banks, SyndiSync means more deals closed with fewer resources. For borrowers, it means faster access to capital with greater certainty. For the market, it means a more efficient, transparent, and sustainable lending ecosystem.</a:t>
            </a:r>
            <a:endParaRPr lang="en-US" sz="16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6356" y="4983123"/>
            <a:ext cx="3784997" cy="21027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84403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Built on Enterprise-Grade Infrastructure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260175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01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2956798"/>
            <a:ext cx="3664744" cy="30480"/>
          </a:xfrm>
          <a:prstGeom prst="rect">
            <a:avLst/>
          </a:prstGeom>
          <a:solidFill>
            <a:srgbClr val="DCFF50"/>
          </a:solidFill>
          <a:ln/>
        </p:spPr>
      </p:sp>
      <p:sp>
        <p:nvSpPr>
          <p:cNvPr id="7" name="Text 4"/>
          <p:cNvSpPr/>
          <p:nvPr/>
        </p:nvSpPr>
        <p:spPr>
          <a:xfrm>
            <a:off x="793790" y="3131106"/>
            <a:ext cx="32309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Bank-Level Security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93790" y="3621524"/>
            <a:ext cx="366474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End-to-end encryption, SOC 2 Type II compliance, and role-based access controls protect sensitive deal data.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4685348" y="260175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02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4685348" y="2956798"/>
            <a:ext cx="3664863" cy="30480"/>
          </a:xfrm>
          <a:prstGeom prst="rect">
            <a:avLst/>
          </a:prstGeom>
          <a:solidFill>
            <a:srgbClr val="DCFF50"/>
          </a:solidFill>
          <a:ln/>
        </p:spPr>
      </p:sp>
      <p:sp>
        <p:nvSpPr>
          <p:cNvPr id="11" name="Text 8"/>
          <p:cNvSpPr/>
          <p:nvPr/>
        </p:nvSpPr>
        <p:spPr>
          <a:xfrm>
            <a:off x="4685348" y="3131106"/>
            <a:ext cx="340102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Seamless Integration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4685348" y="3621524"/>
            <a:ext cx="3664863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Connect with existing systems—CRM, document management, and reporting platforms—via robust APIs.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93790" y="546996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793790" y="5825014"/>
            <a:ext cx="7556421" cy="30480"/>
          </a:xfrm>
          <a:prstGeom prst="rect">
            <a:avLst/>
          </a:prstGeom>
          <a:solidFill>
            <a:srgbClr val="DCFF50"/>
          </a:solidFill>
          <a:ln/>
        </p:spPr>
      </p:sp>
      <p:sp>
        <p:nvSpPr>
          <p:cNvPr id="15" name="Text 12"/>
          <p:cNvSpPr/>
          <p:nvPr/>
        </p:nvSpPr>
        <p:spPr>
          <a:xfrm>
            <a:off x="793790" y="5999321"/>
            <a:ext cx="357104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Scalable Architecture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93790" y="6489740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Cloud-native infrastructure built to handle thousands of concurrent deals across global markets.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453" y="601861"/>
            <a:ext cx="13099494" cy="1367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5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The Future of Syndicated Lending Is AI-Native</a:t>
            </a:r>
            <a:endParaRPr lang="en-US" sz="4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453" y="2542937"/>
            <a:ext cx="3937040" cy="21871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07887" y="2493764"/>
            <a:ext cx="6964561" cy="699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Traditional lending workflows were designed for a different era. Today's markets demand speed, transparency, and intelligence.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907887" y="3390424"/>
            <a:ext cx="6964561" cy="1049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SyndiSync represents a fundamental reimagining of how syndicated loans are structured, negotiated, and executed—combining institutional rigour with modern AI capabilities.</a:t>
            </a:r>
            <a:endParaRPr lang="en-US" sz="1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7887" y="4686181"/>
            <a:ext cx="1093589" cy="13477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20194" y="4904899"/>
            <a:ext cx="2734032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Legacy Systems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8220194" y="5465326"/>
            <a:ext cx="5652254" cy="349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Manual, opaque, slow</a:t>
            </a:r>
            <a:endParaRPr lang="en-US" sz="17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7887" y="6033968"/>
            <a:ext cx="1093589" cy="13477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20194" y="6252686"/>
            <a:ext cx="2952869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SyndiSync Platform</a:t>
            </a:r>
            <a:endParaRPr lang="en-US" sz="2150" dirty="0"/>
          </a:p>
        </p:txBody>
      </p:sp>
      <p:sp>
        <p:nvSpPr>
          <p:cNvPr id="11" name="Text 6"/>
          <p:cNvSpPr/>
          <p:nvPr/>
        </p:nvSpPr>
        <p:spPr>
          <a:xfrm>
            <a:off x="8220194" y="6813113"/>
            <a:ext cx="5652254" cy="349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Automated, transparent, instant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6642" y="764262"/>
            <a:ext cx="7630716" cy="1351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Ready for Deployment Across Global Markets</a:t>
            </a:r>
            <a:endParaRPr lang="en-US" sz="4250" dirty="0"/>
          </a:p>
        </p:txBody>
      </p:sp>
      <p:sp>
        <p:nvSpPr>
          <p:cNvPr id="5" name="Shape 2"/>
          <p:cNvSpPr/>
          <p:nvPr/>
        </p:nvSpPr>
        <p:spPr>
          <a:xfrm>
            <a:off x="756642" y="2439829"/>
            <a:ext cx="3707249" cy="2283143"/>
          </a:xfrm>
          <a:prstGeom prst="roundRect">
            <a:avLst>
              <a:gd name="adj" fmla="val 1421"/>
            </a:avLst>
          </a:prstGeom>
          <a:solidFill>
            <a:srgbClr val="404040"/>
          </a:solidFill>
          <a:ln/>
        </p:spPr>
      </p:sp>
      <p:sp>
        <p:nvSpPr>
          <p:cNvPr id="6" name="Text 3"/>
          <p:cNvSpPr/>
          <p:nvPr/>
        </p:nvSpPr>
        <p:spPr>
          <a:xfrm>
            <a:off x="972741" y="2655927"/>
            <a:ext cx="2702600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Investment Banks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972741" y="3123367"/>
            <a:ext cx="3275052" cy="1383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Accelerate deal origination and syndication with AI-powered documentation and negotiation tools.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679990" y="2439829"/>
            <a:ext cx="3707368" cy="2283143"/>
          </a:xfrm>
          <a:prstGeom prst="roundRect">
            <a:avLst>
              <a:gd name="adj" fmla="val 1421"/>
            </a:avLst>
          </a:prstGeom>
          <a:solidFill>
            <a:srgbClr val="404040"/>
          </a:solidFill>
          <a:ln/>
        </p:spPr>
      </p:sp>
      <p:sp>
        <p:nvSpPr>
          <p:cNvPr id="9" name="Text 6"/>
          <p:cNvSpPr/>
          <p:nvPr/>
        </p:nvSpPr>
        <p:spPr>
          <a:xfrm>
            <a:off x="4896088" y="2655927"/>
            <a:ext cx="3080266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Corporate Borrowers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4896088" y="3123367"/>
            <a:ext cx="3275171" cy="1383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Secure financing faster with transparent, streamlined processes and real-time deal visibility.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56642" y="4939070"/>
            <a:ext cx="7630716" cy="1591389"/>
          </a:xfrm>
          <a:prstGeom prst="roundRect">
            <a:avLst>
              <a:gd name="adj" fmla="val 2038"/>
            </a:avLst>
          </a:prstGeom>
          <a:solidFill>
            <a:srgbClr val="404040"/>
          </a:solidFill>
          <a:ln/>
        </p:spPr>
      </p:sp>
      <p:sp>
        <p:nvSpPr>
          <p:cNvPr id="12" name="Text 9"/>
          <p:cNvSpPr/>
          <p:nvPr/>
        </p:nvSpPr>
        <p:spPr>
          <a:xfrm>
            <a:off x="972741" y="5155168"/>
            <a:ext cx="2702600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Legal Advisers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72741" y="5622607"/>
            <a:ext cx="7198519" cy="691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Review and negotiate with confidence using LMA-compliant templates and intelligent conflict detection.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756642" y="6773585"/>
            <a:ext cx="7630716" cy="691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SyndiSync integrates seamlessly into existing deal workflows, requiring minimal training whilst delivering immediate value to all stakeholders.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17908" y="1016079"/>
            <a:ext cx="7880985" cy="5638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850"/>
              </a:lnSpc>
              <a:buNone/>
            </a:pPr>
            <a:r>
              <a:rPr lang="en-US" sz="7100" dirty="0">
                <a:solidFill>
                  <a:srgbClr val="DCFF5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Faster Deals.</a:t>
            </a:r>
            <a:pPr algn="ctr" indent="0" marL="0">
              <a:lnSpc>
                <a:spcPts val="8850"/>
              </a:lnSpc>
              <a:buNone/>
            </a:pPr>
            <a:r>
              <a:rPr lang="en-US" sz="71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Smarter Negotiations.</a:t>
            </a:r>
            <a:endParaRPr lang="en-US" sz="7100" dirty="0"/>
          </a:p>
          <a:p>
            <a:pPr algn="ctr" indent="0" marL="0">
              <a:lnSpc>
                <a:spcPts val="8850"/>
              </a:lnSpc>
              <a:buNone/>
            </a:pPr>
            <a:r>
              <a:rPr lang="en-US" sz="71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Greener Outcomes.</a:t>
            </a:r>
            <a:endParaRPr lang="en-US" sz="7100" dirty="0"/>
          </a:p>
        </p:txBody>
      </p:sp>
      <p:sp>
        <p:nvSpPr>
          <p:cNvPr id="5" name="Text 2"/>
          <p:cNvSpPr/>
          <p:nvPr/>
        </p:nvSpPr>
        <p:spPr>
          <a:xfrm>
            <a:off x="6117908" y="6924913"/>
            <a:ext cx="7880985" cy="288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Let's reimagine the loan market together.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2025-12-19T16:05:55Z</dcterms:created>
  <dcterms:modified xsi:type="dcterms:W3CDTF">2025-12-19T16:05:55Z</dcterms:modified>
</cp:coreProperties>
</file>